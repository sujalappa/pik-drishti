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07423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Fill every field exactly as entered in the online application form so reviewers can match the deck to the application.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Reviewers look for a clearly defined, real and significant problem backed by evidence. One strong statistic is better than many weak ones. Cite the source for every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clearly how the solution addresses the problem on Slide 2. Compare against what exists today — reviewers score originality and relevance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realistic. A clear, costed plan with an identified adopting department scores better than an ambitious but vague one. Mention any validation already done (tests, user feedback, certifications).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Quantify impact wherever possible and state your assumptions. Where relevant, link the solution to an existing Government scheme, mission or the Sustainable Development Goals.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 only active team members. Be specific about the support requested — it helps the organisers match you with the right mentor, department or incubator.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pik-drishti.onrender.com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pik-drishti.onrender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pik-drishti.onrender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0" kern="0" spc="200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•  AGRICULTURE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3152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 i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Pik-drishti AI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Village-level satellite evidence for drought declaration and crop-loss panchanama, following the Government of India drought manual. For revenue and agriculture departments.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852160" y="777240"/>
            <a:ext cx="2834640" cy="3108960"/>
          </a:xfrm>
          <a:prstGeom prst="roundRect">
            <a:avLst>
              <a:gd name="adj" fmla="val 3226"/>
            </a:avLst>
          </a:prstGeom>
          <a:solidFill>
            <a:srgbClr val="253870"/>
          </a:solidFill>
          <a:ln w="12700">
            <a:solidFill>
              <a:srgbClr val="25387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 txBox="1"/>
          <p:nvPr/>
        </p:nvSpPr>
        <p:spPr>
          <a:xfrm>
            <a:off x="6035040" y="914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Working prototype</a:t>
            </a:r>
            <a:endParaRPr lang="en-US" sz="1300" dirty="0"/>
          </a:p>
        </p:txBody>
      </p:sp>
      <p:sp>
        <p:nvSpPr>
          <p:cNvPr id="20" name="TextBox 19"/>
          <p:cNvSpPr txBox="1"/>
          <p:nvPr/>
        </p:nvSpPr>
        <p:spPr>
          <a:xfrm>
            <a:off x="457200" y="274320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050" b="1">
                <a:solidFill>
                  <a:srgbClr val="F28C28"/>
                </a:solidFill>
                <a:latin typeface="Nirmala UI"/>
              </a:rPr>
              <a:t>Sub-theme: Farmer income protection, market access and digital crop-loss assessment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703320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050" b="1">
                <a:solidFill>
                  <a:srgbClr val="FFFFFF"/>
                </a:solidFill>
                <a:latin typeface="Nirmala UI"/>
              </a:rPr>
              <a:t>Sujal Chondekar  ·  Kshitij Mehrotra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C9D2EC"/>
                </a:solidFill>
                <a:latin typeface="Nirmala UI"/>
              </a:rPr>
              <a:t>Mentor: Dr. Swati Hira, Assistant Professor, CSE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C9D2EC"/>
                </a:solidFill>
                <a:latin typeface="Nirmala UI"/>
              </a:rPr>
              <a:t>Indian Institute of Information Technology, Nagpur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280160"/>
            <a:ext cx="2468880" cy="1009672"/>
          </a:xfrm>
          <a:prstGeom prst="rect">
            <a:avLst/>
          </a:prstGeom>
          <a:ln>
            <a:solidFill>
              <a:srgbClr val="3A4A7A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6035040" y="2426992"/>
            <a:ext cx="2468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000" b="0">
                <a:solidFill>
                  <a:srgbClr val="FFFFFF"/>
                </a:solidFill>
                <a:latin typeface="Nirmala UI"/>
              </a:rPr>
              <a:t>• All 365 talukas in ~1 min; every village of a taluka in ~2 min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FFFFFF"/>
                </a:solidFill>
                <a:latin typeface="Nirmala UI"/>
              </a:rPr>
              <a:t>• Trigger-1 matches the official 2026 list in Jalgaon (15/15)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FFFFFF"/>
                </a:solidFill>
                <a:latin typeface="Nirmala UI"/>
              </a:rPr>
              <a:t>Live demo: </a:t>
            </a:r>
            <a:r>
              <a:rPr sz="1000" b="1">
                <a:solidFill>
                  <a:srgbClr val="F28C28"/>
                </a:solidFill>
                <a:latin typeface="Nirmala UI"/>
                <a:hlinkClick r:id="rId4"/>
              </a:rPr>
              <a:t>pik-drishti.onrender.com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2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The Problem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real challenge in society, government service or industry are you solving?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2 of 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27432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594360" y="129844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is the problem?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572768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After floods or unseasonal rain, every damaged farm is inspected </a:t>
            </a:r>
            <a:r>
              <a:rPr lang="en-US" sz="10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by hand</a:t>
            </a:r>
            <a:r>
              <a:rPr lang="en-US" sz="10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(panchanama) before relief or insurance is paid. With lakhs of farms hit at once this takes </a:t>
            </a:r>
            <a:r>
              <a:rPr lang="en-US" sz="10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weeks</a:t>
            </a:r>
            <a:r>
              <a:rPr lang="en-US" sz="10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, and farmers must leave the ruined crop standing as proof.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280" y="1188720"/>
            <a:ext cx="27432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 txBox="1"/>
          <p:nvPr/>
        </p:nvSpPr>
        <p:spPr>
          <a:xfrm>
            <a:off x="3520440" y="129844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Who is affected, and where?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520440" y="1572768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Small and marginal farmers across Maharashtra. In 2025, </a:t>
            </a:r>
            <a:r>
              <a:rPr lang="en-US" sz="10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29 of 36 districts</a:t>
            </a:r>
            <a:r>
              <a:rPr lang="en-US" sz="10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and </a:t>
            </a:r>
            <a:r>
              <a:rPr lang="en-US" sz="10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253 talukas</a:t>
            </a:r>
            <a:r>
              <a:rPr lang="en-US" sz="10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were hit, Marathwada the worst. </a:t>
            </a:r>
            <a:r>
              <a:rPr lang="en-US" sz="10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Also the talathis and agriculture assistants who must survey every field, and the officials who approve relief.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971800"/>
            <a:ext cx="274320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 txBox="1"/>
          <p:nvPr/>
        </p:nvSpPr>
        <p:spPr>
          <a:xfrm>
            <a:off x="594360" y="308152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Evidence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3355848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60–68 lakh ha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crops damaged, Jun–Sep 2025; </a:t>
            </a: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₹31,628 cr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relief (State Govt)</a:t>
            </a:r>
            <a:endParaRPr lang="en-US" sz="1000" dirty="0"/>
          </a:p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Banana storms, 2026: survey ordered </a:t>
            </a: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~3 weeks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late, 1.5–2 months to reach Solapur</a:t>
            </a:r>
          </a:p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The State itself proposed </a:t>
            </a: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using satellites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to assess damage (PTI)</a:t>
            </a:r>
          </a:p>
        </p:txBody>
      </p:sp>
      <p:sp>
        <p:nvSpPr>
          <p:cNvPr id="16" name="Shape 14"/>
          <p:cNvSpPr/>
          <p:nvPr/>
        </p:nvSpPr>
        <p:spPr>
          <a:xfrm>
            <a:off x="3383280" y="2971800"/>
            <a:ext cx="274320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 txBox="1"/>
          <p:nvPr/>
        </p:nvSpPr>
        <p:spPr>
          <a:xfrm>
            <a:off x="3520440" y="308152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Current gaps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520440" y="3355848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Panchanama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is manual, field by field, and depends on the surveyor</a:t>
            </a:r>
            <a:endParaRPr lang="en-US" sz="1000" dirty="0"/>
          </a:p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Drone surveys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help but go district by district and cost more</a:t>
            </a:r>
          </a:p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YES-TECH / CROPIC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estimate season-end yield for insurance, not each farm's damage right after an event</a:t>
            </a:r>
          </a:p>
        </p:txBody>
      </p:sp>
      <p:sp>
        <p:nvSpPr>
          <p:cNvPr id="19" name="Shape 17"/>
          <p:cNvSpPr/>
          <p:nvPr/>
        </p:nvSpPr>
        <p:spPr>
          <a:xfrm>
            <a:off x="6309360" y="1188720"/>
            <a:ext cx="2377440" cy="3429000"/>
          </a:xfrm>
          <a:prstGeom prst="roundRect">
            <a:avLst>
              <a:gd name="adj" fmla="val 3846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6400800" y="1508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240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60 lakh+ ha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6492240" y="22860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050" i="0" dirty="0" b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of crops damaged by rain and floods in Maharashtra, June–Sept 2025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492240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492240" y="33832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00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Until the survey is done, relief, crop loans and re-sowing all wait, and ₹31,628 crore of aid rests on manual field checks.</a:t>
            </a:r>
            <a:endParaRPr lang="en-US" sz="1000" dirty="0"/>
          </a:p>
        </p:txBody>
      </p:sp>
      <p:sp>
        <p:nvSpPr>
          <p:cNvPr id="24" name="Sources"/>
          <p:cNvSpPr txBox="1"/>
          <p:nvPr/>
        </p:nvSpPr>
        <p:spPr>
          <a:xfrm>
            <a:off x="457200" y="4663440"/>
            <a:ext cx="49377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>
                <a:solidFill>
                  <a:srgbClr val="6B7280"/>
                </a:solidFill>
                <a:latin typeface="Nirmala UI"/>
              </a:rPr>
              <a:t>Sources: Govt of Maharashtra relief package, 7 Oct 2025 (Scroll, The Week); Rural Voice, 27 Jun 2026; PTI via Outlook India, Jan 2024; MoA&amp;FW YES-TECH (2023).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Our Solution &amp; Innovation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have you built or designed, how does it work, and what is new about it?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3 of 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1887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Our solution in brief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48132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Pik-drishti AI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turns free satellite data into village-level evidence: which talukas meet the </a:t>
            </a: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drought manual's triggers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, and which villages lost crops to floods, ranked for </a:t>
            </a: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panchanama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3774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How it works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724912"/>
            <a:ext cx="1170432" cy="1783080"/>
          </a:xfrm>
          <a:prstGeom prst="roundRect">
            <a:avLst>
              <a:gd name="adj" fmla="val 625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859536" y="2834640"/>
            <a:ext cx="365760" cy="3657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859536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1</a:t>
            </a:r>
            <a:endParaRPr lang="en-US" sz="1120" dirty="0"/>
          </a:p>
        </p:txBody>
      </p:sp>
      <p:sp>
        <p:nvSpPr>
          <p:cNvPr id="13" name="Text 11"/>
          <p:cNvSpPr txBox="1"/>
          <p:nvPr/>
        </p:nvSpPr>
        <p:spPr>
          <a:xfrm>
            <a:off x="530352" y="3273552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Input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566160"/>
            <a:ext cx="987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8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 taluka, or village boundaries, plus a season or the date of a flood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627632" y="329184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›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1828800" y="2724912"/>
            <a:ext cx="1170432" cy="1783080"/>
          </a:xfrm>
          <a:prstGeom prst="roundRect">
            <a:avLst>
              <a:gd name="adj" fmla="val 625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2231136" y="2834640"/>
            <a:ext cx="365760" cy="3657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 txBox="1"/>
          <p:nvPr/>
        </p:nvSpPr>
        <p:spPr>
          <a:xfrm>
            <a:off x="2231136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2</a:t>
            </a:r>
            <a:endParaRPr lang="en-US" sz="1120" dirty="0"/>
          </a:p>
        </p:txBody>
      </p:sp>
      <p:sp>
        <p:nvSpPr>
          <p:cNvPr id="19" name="Text 17"/>
          <p:cNvSpPr txBox="1"/>
          <p:nvPr/>
        </p:nvSpPr>
        <p:spPr>
          <a:xfrm>
            <a:off x="1901952" y="3273552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Process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920240" y="3566160"/>
            <a:ext cx="987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8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Reads rainfall, radar and crop greenness; applies the drought manual's rules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2999232" y="329184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›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3200400" y="2724912"/>
            <a:ext cx="1170432" cy="1783080"/>
          </a:xfrm>
          <a:prstGeom prst="roundRect">
            <a:avLst>
              <a:gd name="adj" fmla="val 625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Shape 21"/>
          <p:cNvSpPr/>
          <p:nvPr/>
        </p:nvSpPr>
        <p:spPr>
          <a:xfrm>
            <a:off x="3602736" y="2834640"/>
            <a:ext cx="365760" cy="3657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 txBox="1"/>
          <p:nvPr/>
        </p:nvSpPr>
        <p:spPr>
          <a:xfrm>
            <a:off x="3602736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</a:t>
            </a:r>
            <a:endParaRPr lang="en-US" sz="1120" dirty="0"/>
          </a:p>
        </p:txBody>
      </p:sp>
      <p:sp>
        <p:nvSpPr>
          <p:cNvPr id="25" name="Text 23"/>
          <p:cNvSpPr txBox="1"/>
          <p:nvPr/>
        </p:nvSpPr>
        <p:spPr>
          <a:xfrm>
            <a:off x="3273552" y="3273552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Output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3291840" y="3566160"/>
            <a:ext cx="987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8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Village map, ranked verification list, PDF, CSV and KML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4754880" y="11887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makes it new?</a:t>
            </a:r>
            <a:endParaRPr lang="en-US" sz="13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536192"/>
          <a:ext cx="3931920" cy="192024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Existing approach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Our approach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 i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Cost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0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Staff visits to every village; drones extra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1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Free open satellite data; one small server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 i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Speed / time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0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Weeks to 2 months per district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1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All talukas ~1 min; a taluka's villages ~2 min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 i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Reach / access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0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Limited by field staff; farms get missed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1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All 48,926 villages, every season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 i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Ease of use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0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Paper forms, manual compiling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1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Web map, ready PDF and KML; no GIS skills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9" name="Text 26"/>
          <p:cNvSpPr txBox="1"/>
          <p:nvPr/>
        </p:nvSpPr>
        <p:spPr>
          <a:xfrm>
            <a:off x="4754880" y="361188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Key USP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4754880" y="388620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Follows the Government of India drought manual step by step and shows the evidence for every village. Its Trigger-1 already matches the official 2026 list in </a:t>
            </a: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Jalgaon (15/15)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and </a:t>
            </a: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Buldhana (13/13)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.</a:t>
            </a:r>
            <a:endParaRPr lang="en-US" sz="1000" dirty="0"/>
          </a:p>
        </p:txBody>
      </p:sp>
      <p:pic>
        <p:nvPicPr>
          <p:cNvPr id="31" name="Picture 30" descr="app_drou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0" y="1463040"/>
            <a:ext cx="1737360" cy="710510"/>
          </a:xfrm>
          <a:prstGeom prst="rect">
            <a:avLst/>
          </a:prstGeom>
          <a:ln>
            <a:solidFill>
              <a:srgbClr val="D9DEEA"/>
            </a:solidFill>
          </a:ln>
        </p:spPr>
      </p:pic>
      <p:sp>
        <p:nvSpPr>
          <p:cNvPr id="32" name="TextBox 31"/>
          <p:cNvSpPr txBox="1"/>
          <p:nvPr/>
        </p:nvSpPr>
        <p:spPr>
          <a:xfrm>
            <a:off x="2651760" y="2200982"/>
            <a:ext cx="17373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Nirmala UI"/>
              </a:rPr>
              <a:t>Working prototype: drought map, Oct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4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Feasibility &amp; Implementation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How ready is the solution, and what will it take to implement it on the ground?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4 of 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1704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Current stage (mark ✔ where you are today)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14400" y="1783080"/>
            <a:ext cx="7315200" cy="0"/>
          </a:xfrm>
          <a:prstGeom prst="line">
            <a:avLst/>
          </a:prstGeom>
          <a:noFill/>
          <a:ln w="25400">
            <a:solidFill>
              <a:srgbClr val="C3CAE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758952" y="1627632"/>
            <a:ext cx="310896" cy="310896"/>
          </a:xfrm>
          <a:prstGeom prst="ellipse">
            <a:avLst/>
          </a:prstGeom>
          <a:solidFill>
            <a:srgbClr val="FBD9B5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 txBox="1"/>
          <p:nvPr/>
        </p:nvSpPr>
        <p:spPr>
          <a:xfrm>
            <a:off x="1828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Idea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587752" y="1627632"/>
            <a:ext cx="310896" cy="310896"/>
          </a:xfrm>
          <a:prstGeom prst="ellipse">
            <a:avLst/>
          </a:prstGeom>
          <a:solidFill>
            <a:srgbClr val="FBD9B5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20116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Proof of Concept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416552" y="1627632"/>
            <a:ext cx="310896" cy="310896"/>
          </a:xfrm>
          <a:prstGeom prst="ellipse">
            <a:avLst/>
          </a:prstGeom>
          <a:solidFill>
            <a:srgbClr val="F28C28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 txBox="1"/>
          <p:nvPr/>
        </p:nvSpPr>
        <p:spPr>
          <a:xfrm>
            <a:off x="38404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00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Working Prototype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45352" y="162763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 txBox="1"/>
          <p:nvPr/>
        </p:nvSpPr>
        <p:spPr>
          <a:xfrm>
            <a:off x="56692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Field Pilot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74152" y="162763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 txBox="1"/>
          <p:nvPr/>
        </p:nvSpPr>
        <p:spPr>
          <a:xfrm>
            <a:off x="74980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Ready to Deploy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59436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Technology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Google Earth Engine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for all satellite processing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Python + React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web app with maps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Data: 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CHIRPS, MODIS, Sentinel-1, Sentinel-2, ESA WorldCover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Next: drone survey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of flagged villages, reusing our Van-drishti drone pipeline</a:t>
            </a:r>
          </a:p>
        </p:txBody>
      </p:sp>
      <p:sp>
        <p:nvSpPr>
          <p:cNvPr id="22" name="Shape 20"/>
          <p:cNvSpPr/>
          <p:nvPr/>
        </p:nvSpPr>
        <p:spPr>
          <a:xfrm>
            <a:off x="256032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 txBox="1"/>
          <p:nvPr/>
        </p:nvSpPr>
        <p:spPr>
          <a:xfrm>
            <a:off x="269748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Estimated cost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69748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Data: ₹0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(free NASA, ESA and CHC data)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Server: ~₹5,000 / month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for a whole state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About ₹1-2 per village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per year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District pilot: under ₹1 lakh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, mostly field checks</a:t>
            </a:r>
          </a:p>
        </p:txBody>
      </p:sp>
      <p:sp>
        <p:nvSpPr>
          <p:cNvPr id="25" name="Shape 23"/>
          <p:cNvSpPr/>
          <p:nvPr/>
        </p:nvSpPr>
        <p:spPr>
          <a:xfrm>
            <a:off x="466344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 txBox="1"/>
          <p:nvPr/>
        </p:nvSpPr>
        <p:spPr>
          <a:xfrm>
            <a:off x="480060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Timeline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80060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 months: 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pilot in one district on the kharif 2026 drought; compare with panchanamas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6 months: 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drone surveys over flagged villages for plot-level damage; Marathi interface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12 months: 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statewide, with farm boundaries from land records</a:t>
            </a:r>
          </a:p>
        </p:txBody>
      </p:sp>
      <p:sp>
        <p:nvSpPr>
          <p:cNvPr id="28" name="Shape 26"/>
          <p:cNvSpPr/>
          <p:nvPr/>
        </p:nvSpPr>
        <p:spPr>
          <a:xfrm>
            <a:off x="676656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 txBox="1"/>
          <p:nvPr/>
        </p:nvSpPr>
        <p:spPr>
          <a:xfrm>
            <a:off x="690372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Partners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90372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Relief &amp; Rehabilitation Department, GoM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Agriculture Department (taluka agriculture officers)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MRSAC, Nagpur (state remote sensing centre)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District collectors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IIIT Nagpur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6552" y="162763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irmala UI"/>
              </a:rPr>
              <a:t>✔</a:t>
            </a:r>
          </a:p>
        </p:txBody>
      </p:sp>
      <p:sp>
        <p:nvSpPr>
          <p:cNvPr id="32" name="Demo link"/>
          <p:cNvSpPr txBox="1"/>
          <p:nvPr/>
        </p:nvSpPr>
        <p:spPr>
          <a:xfrm>
            <a:off x="4846320" y="1170432"/>
            <a:ext cx="3840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1">
                <a:solidFill>
                  <a:srgbClr val="1B2A5C"/>
                </a:solidFill>
                <a:latin typeface="Nirmala UI"/>
              </a:rPr>
              <a:t>Live prototype: </a:t>
            </a:r>
            <a:r>
              <a:rPr sz="1050" b="1">
                <a:solidFill>
                  <a:srgbClr val="F28C28"/>
                </a:solidFill>
                <a:latin typeface="Nirmala UI"/>
                <a:hlinkClick r:id="rId3"/>
              </a:rPr>
              <a:t>pik-drishti.onrender.com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5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Impact &amp; Scalability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change will your solution create, and how can it grow beyond the first location?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5 of 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548640" y="12801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2800" b="1" dirty="0" i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48,926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9385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b="1" dirty="0" i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Villages covered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21284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every village of Maharashtra, every season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64408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3355848" y="12801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2600" b="1" dirty="0" i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Weeks → mins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3355848" y="19385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b="1" dirty="0" i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Saving in time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355848" y="221284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first screening vs a 1.5-2 month field survey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071616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 txBox="1"/>
          <p:nvPr/>
        </p:nvSpPr>
        <p:spPr>
          <a:xfrm>
            <a:off x="6163056" y="12801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2800" b="1" dirty="0" i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33 lakh+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6163056" y="19385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b="1" dirty="0" i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Farmer livelihoods supported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163056" y="221284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farmers in one 2025 relief round alone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28346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594360" y="294436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Social impact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321868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Relief and re-sowing come sooner for small farmers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Fewer farms missed; officials verify the worst first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Source-cited evidence reduces disputes</a:t>
            </a:r>
          </a:p>
        </p:txBody>
      </p:sp>
      <p:sp>
        <p:nvSpPr>
          <p:cNvPr id="22" name="Shape 20"/>
          <p:cNvSpPr/>
          <p:nvPr/>
        </p:nvSpPr>
        <p:spPr>
          <a:xfrm>
            <a:off x="3264408" y="28346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 txBox="1"/>
          <p:nvPr/>
        </p:nvSpPr>
        <p:spPr>
          <a:xfrm>
            <a:off x="3401568" y="294436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Sustainability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3401568" y="321868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Runs on free satellite data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Low server cost fits a department budget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Can be hosted by MRSAC; open-source code</a:t>
            </a:r>
          </a:p>
        </p:txBody>
      </p:sp>
      <p:sp>
        <p:nvSpPr>
          <p:cNvPr id="25" name="Shape 23"/>
          <p:cNvSpPr/>
          <p:nvPr/>
        </p:nvSpPr>
        <p:spPr>
          <a:xfrm>
            <a:off x="6071616" y="28346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 txBox="1"/>
          <p:nvPr/>
        </p:nvSpPr>
        <p:spPr>
          <a:xfrm>
            <a:off x="6208776" y="294436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Scale-up plan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208776" y="321868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Any state: the drought manual is national and the data global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Only needs that state's village boundaries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Next: drone surveys for plot-level detail; rabi drought, hail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68172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Nirmala UI"/>
              </a:rPr>
              <a:t>Sources: Govt of Maharashtra relief aid of ₹3,258 cr for 33.65 lakh farmers, Oct 2025 (The Hitavada); village count from Census 2001 boundaries (DataMeet). Server cost is an estimate.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6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Team/Individual &amp; Support Required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Who is behind the idea, and what help do you need from the Challenge?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253870"/>
          </a:solidFill>
          <a:ln w="12700">
            <a:solidFill>
              <a:srgbClr val="25387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594360" y="1371600"/>
            <a:ext cx="502920" cy="502920"/>
          </a:xfrm>
          <a:prstGeom prst="ellipse">
            <a:avLst/>
          </a:prstGeom>
          <a:solidFill>
            <a:srgbClr val="3A4C85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59436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dirty="0" i="0" b="1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SC</a:t>
            </a:r>
            <a:endParaRPr lang="en-US" sz="7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135331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 b="1" dirty="0" i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Sujal Chondekar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160934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Lead developer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182880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80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B.Tech CSE, IIIT Nagpur · satellite analysis, web app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697480" y="1188720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253870"/>
          </a:solidFill>
          <a:ln w="12700">
            <a:solidFill>
              <a:srgbClr val="25387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2834640" y="1371600"/>
            <a:ext cx="502920" cy="502920"/>
          </a:xfrm>
          <a:prstGeom prst="ellipse">
            <a:avLst/>
          </a:prstGeom>
          <a:solidFill>
            <a:srgbClr val="3A4C85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 txBox="1"/>
          <p:nvPr/>
        </p:nvSpPr>
        <p:spPr>
          <a:xfrm>
            <a:off x="2834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dirty="0" i="0" b="1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KM</a:t>
            </a:r>
            <a:endParaRPr lang="en-US" sz="700" dirty="0"/>
          </a:p>
        </p:txBody>
      </p:sp>
      <p:sp>
        <p:nvSpPr>
          <p:cNvPr id="15" name="Text 13"/>
          <p:cNvSpPr txBox="1"/>
          <p:nvPr/>
        </p:nvSpPr>
        <p:spPr>
          <a:xfrm>
            <a:off x="3447288" y="135331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 b="1" dirty="0" i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Kshitij Mehrotra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447288" y="160934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Developer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3447288" y="182880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80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B.Tech CSE, IIIT Nagpur · data and validation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57200" y="2468880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253870"/>
          </a:solidFill>
          <a:ln w="12700">
            <a:solidFill>
              <a:srgbClr val="25387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594360" y="2651760"/>
            <a:ext cx="502920" cy="502920"/>
          </a:xfrm>
          <a:prstGeom prst="ellipse">
            <a:avLst/>
          </a:prstGeom>
          <a:solidFill>
            <a:srgbClr val="3A4C85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594360" y="2651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dirty="0" i="0" b="1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SH</a:t>
            </a:r>
            <a:endParaRPr lang="en-US" sz="700" dirty="0"/>
          </a:p>
        </p:txBody>
      </p:sp>
      <p:sp>
        <p:nvSpPr>
          <p:cNvPr id="21" name="Text 19"/>
          <p:cNvSpPr txBox="1"/>
          <p:nvPr/>
        </p:nvSpPr>
        <p:spPr>
          <a:xfrm>
            <a:off x="1207008" y="263347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 b="1" dirty="0" i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Dr. Swati Hira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207008" y="288950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Faculty mentor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207008" y="31089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80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Assistant Professor, CSE, IIIT Nagpur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38404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5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Indian Institute of Information Technology, Nagpur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120640" y="1188720"/>
            <a:ext cx="3566160" cy="338328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 txBox="1"/>
          <p:nvPr/>
        </p:nvSpPr>
        <p:spPr>
          <a:xfrm>
            <a:off x="5303520" y="1325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Support we are seeking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349240" y="1764792"/>
            <a:ext cx="182880" cy="182880"/>
          </a:xfrm>
          <a:prstGeom prst="rect">
            <a:avLst/>
          </a:prstGeom>
          <a:solidFill>
            <a:srgbClr val="F28C28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 txBox="1"/>
          <p:nvPr/>
        </p:nvSpPr>
        <p:spPr>
          <a:xfrm>
            <a:off x="5669280" y="173736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Mentorship &amp; technical guidance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349240" y="2148840"/>
            <a:ext cx="182880" cy="182880"/>
          </a:xfrm>
          <a:prstGeom prst="rect">
            <a:avLst/>
          </a:prstGeom>
          <a:solidFill>
            <a:srgbClr val="F28C28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 txBox="1"/>
          <p:nvPr/>
        </p:nvSpPr>
        <p:spPr>
          <a:xfrm>
            <a:off x="5669280" y="212140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Pilot with a government department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5349240" y="2532888"/>
            <a:ext cx="182880" cy="182880"/>
          </a:xfrm>
          <a:prstGeom prst="rect">
            <a:avLst/>
          </a:prstGeom>
          <a:solidFill>
            <a:srgbClr val="F28C28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8" name="Text 36"/>
          <p:cNvSpPr txBox="1"/>
          <p:nvPr/>
        </p:nvSpPr>
        <p:spPr>
          <a:xfrm>
            <a:off x="5669280" y="250545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Funding / grant support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349240" y="2916936"/>
            <a:ext cx="182880" cy="182880"/>
          </a:xfrm>
          <a:prstGeom prst="rect">
            <a:avLst/>
          </a:prstGeom>
          <a:solidFill>
            <a:srgbClr val="FFFFFF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Text 38"/>
          <p:cNvSpPr txBox="1"/>
          <p:nvPr/>
        </p:nvSpPr>
        <p:spPr>
          <a:xfrm>
            <a:off x="5669280" y="288950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Incubation &amp; workspace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349240" y="3300984"/>
            <a:ext cx="182880" cy="182880"/>
          </a:xfrm>
          <a:prstGeom prst="rect">
            <a:avLst/>
          </a:prstGeom>
          <a:solidFill>
            <a:srgbClr val="FFFFFF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 txBox="1"/>
          <p:nvPr/>
        </p:nvSpPr>
        <p:spPr>
          <a:xfrm>
            <a:off x="5669280" y="327355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Testing, certification or IP support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5303520" y="37033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 district pilot with the Relief &amp; Rehabilitation and Agriculture Departments would let us test the village list against panchanamas and make it the first step of every drought and crop-loss assessment.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422452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05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Thank you  |  sujalchondhekar@gmail.com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Live demo: </a:t>
            </a:r>
            <a:r>
              <a:rPr lang="en-US" sz="105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  <a:hlinkClick r:id="rId3"/>
              </a:rPr>
              <a:t>pik-drishti.onrender.com</a:t>
            </a:r>
          </a:p>
        </p:txBody>
      </p:sp>
      <p:sp>
        <p:nvSpPr>
          <p:cNvPr id="45" name="Text 43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6 of 6</a:t>
            </a:r>
            <a:endParaRPr lang="en-US" sz="800" dirty="0"/>
          </a:p>
        </p:txBody>
      </p:sp>
      <p:sp>
        <p:nvSpPr>
          <p:cNvPr id="46" name="TextBox 45"/>
          <p:cNvSpPr txBox="1"/>
          <p:nvPr/>
        </p:nvSpPr>
        <p:spPr>
          <a:xfrm>
            <a:off x="5349240" y="1764792"/>
            <a:ext cx="18288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Nirmala UI"/>
              </a:rPr>
              <a:t>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49240" y="2148840"/>
            <a:ext cx="18288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Nirmala UI"/>
              </a:rPr>
              <a:t>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49240" y="2532888"/>
            <a:ext cx="18288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Nirmala UI"/>
              </a:rPr>
              <a:t>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1008</Words>
  <Application>Microsoft Office PowerPoint</Application>
  <PresentationFormat>On-screen Show (16:9)</PresentationFormat>
  <Paragraphs>138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Nirmala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Seva Innovation Challenge – Reference Pitch Deck</dc:title>
  <dc:subject>PptxGenJS Presentation</dc:subject>
  <dc:creator>PptxGenJS</dc:creator>
  <cp:lastModifiedBy>ceo_ispark@mssu.ac.in</cp:lastModifiedBy>
  <cp:revision>4</cp:revision>
  <dcterms:created xsi:type="dcterms:W3CDTF">2026-09-23T13:40:13Z</dcterms:created>
  <dcterms:modified xsi:type="dcterms:W3CDTF">2026-09-23T13:46:30Z</dcterms:modified>
</cp:coreProperties>
</file>